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C74C9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Cost</c:v>
                </c:pt>
              </c:strCache>
            </c:strRef>
          </c:tx>
          <c:spPr>
            <a:solidFill>
              <a:srgbClr val="8C9AC9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9A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Pants</c:v>
                  </c:pt>
                  <c:pt idx="1">
                    <c:v>Sweater</c:v>
                  </c:pt>
                  <c:pt idx="2">
                    <c:v>Coat</c:v>
                  </c:pt>
                  <c:pt idx="3">
                    <c:v>Sneakers</c:v>
                  </c:pt>
                  <c:pt idx="4">
                    <c:v>Hat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47.37</c:v>
                </c:pt>
                <c:pt idx="1">
                  <c:v>48.17</c:v>
                </c:pt>
                <c:pt idx="2">
                  <c:v>49.07</c:v>
                </c:pt>
                <c:pt idx="3">
                  <c:v>49.66</c:v>
                </c:pt>
                <c:pt idx="4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263372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26337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 &amp; Revenue Review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patterns, discount exposure, and subscription performance across the customer 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Meeting Briefing  |  Prepared for Executive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figures that frame today's discussion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$233K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male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female customers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167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3063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639312" y="397764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across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Loyal, Returning &amp; New segments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0044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239" y="224759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3063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839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501384" y="397764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still spend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 after a discount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72116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311" y="224759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3063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9363456" y="397764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on 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 more than double the revenue of female customers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840480" cy="45720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0" y="1965960"/>
            <a:ext cx="822960" cy="822960"/>
          </a:xfrm>
          <a:prstGeom prst="ellipse">
            <a:avLst/>
          </a:prstGeom>
          <a:solidFill>
            <a:srgbClr val="263372"/>
          </a:solidFill>
          <a:ln/>
        </p:spPr>
      </p:sp>
      <p:pic>
        <p:nvPicPr>
          <p:cNvPr id="7" name="Image 0" descr="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850" y="217993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0" y="2971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$233,081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00100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75320" y="4160520"/>
            <a:ext cx="292608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38160" y="43891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account for 68% of total revenue, despite comparable pricing and product mix across genders — a strong signal for targeted retention and upsell strategies.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by total historical purchases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0020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7220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17099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3,116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0" y="213055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the customer base — the core revenue engine and the group most exposed if satisfaction slips.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320040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3429000"/>
            <a:ext cx="457200" cy="457200"/>
          </a:xfrm>
          <a:prstGeom prst="ellipse">
            <a:avLst/>
          </a:prstGeom>
          <a:solidFill>
            <a:srgbClr val="5C74C9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3310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0" y="3246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C7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58000" y="373075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customers — a healthy re-engagement pool, prime targets for loyalty program conversion.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0" y="480060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5029200"/>
            <a:ext cx="457200" cy="457200"/>
          </a:xfrm>
          <a:prstGeom prst="ellipse">
            <a:avLst/>
          </a:prstGeom>
          <a:solidFill>
            <a:srgbClr val="8C9AC9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910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144000" y="4846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C9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58000" y="533095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2% of customers — acquisition is the smallest lever today and warrants investment.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Subscribers Spend More?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customers spend about the same per order — but there are far fewer of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63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4114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4846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5166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$62,645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5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Subscribed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063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9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4114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9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$59.87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5166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9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$170,436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order value is nearly identical ($59.49 vs $59.87), so subscription revenue lags purely on volume — growing the subscriber base is a direct lever on total spend.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Cost by Method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costs modestly more on average than standard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3736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2668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shi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762" y="2259482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3063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+$2.02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72668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 Express over Standard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26680" y="4114800"/>
            <a:ext cx="356616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26680" y="42976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~3.5% cost gap suggests room to promote Express as a premium, low-friction upgrade without materially compressing margin.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Top-Rated Products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review rating by product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837944"/>
            <a:ext cx="6583680" cy="347472"/>
          </a:xfrm>
          <a:prstGeom prst="roundRect">
            <a:avLst>
              <a:gd name="adj" fmla="val 15789"/>
            </a:avLst>
          </a:prstGeom>
          <a:solidFill>
            <a:srgbClr val="EAEDF6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1837944"/>
            <a:ext cx="5376672" cy="347472"/>
          </a:xfrm>
          <a:prstGeom prst="roundRect">
            <a:avLst>
              <a:gd name="adj" fmla="val 15789"/>
            </a:avLst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9189720" y="1783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2523744"/>
            <a:ext cx="6583680" cy="347472"/>
          </a:xfrm>
          <a:prstGeom prst="roundRect">
            <a:avLst>
              <a:gd name="adj" fmla="val 15789"/>
            </a:avLst>
          </a:prstGeom>
          <a:solidFill>
            <a:srgbClr val="EAEDF6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2523744"/>
            <a:ext cx="477316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8972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3209544"/>
            <a:ext cx="6583680" cy="347472"/>
          </a:xfrm>
          <a:prstGeom prst="roundRect">
            <a:avLst>
              <a:gd name="adj" fmla="val 15789"/>
            </a:avLst>
          </a:prstGeom>
          <a:solidFill>
            <a:srgbClr val="EAED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3209544"/>
            <a:ext cx="4169664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3154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3895344"/>
            <a:ext cx="6583680" cy="347472"/>
          </a:xfrm>
          <a:prstGeom prst="roundRect">
            <a:avLst>
              <a:gd name="adj" fmla="val 15789"/>
            </a:avLst>
          </a:prstGeom>
          <a:solidFill>
            <a:srgbClr val="EAEDF6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3895344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3840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4581144"/>
            <a:ext cx="6583680" cy="347472"/>
          </a:xfrm>
          <a:prstGeom prst="roundRect">
            <a:avLst>
              <a:gd name="adj" fmla="val 15789"/>
            </a:avLst>
          </a:prstGeom>
          <a:solidFill>
            <a:srgbClr val="EAEDF6"/>
          </a:solidFill>
          <a:ln/>
        </p:spPr>
      </p:sp>
      <p:sp>
        <p:nvSpPr>
          <p:cNvPr id="22" name="Shape 20"/>
          <p:cNvSpPr/>
          <p:nvPr/>
        </p:nvSpPr>
        <p:spPr>
          <a:xfrm>
            <a:off x="2468880" y="4581144"/>
            <a:ext cx="2962656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4526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3.78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863840" y="17830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2103120"/>
            <a:ext cx="731520" cy="731520"/>
          </a:xfrm>
          <a:prstGeom prst="ellipse">
            <a:avLst/>
          </a:prstGeom>
          <a:solidFill>
            <a:srgbClr val="263372"/>
          </a:solidFill>
          <a:ln/>
        </p:spPr>
      </p:sp>
      <p:pic>
        <p:nvPicPr>
          <p:cNvPr id="26" name="Image 0" descr="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15" y="2293315"/>
            <a:ext cx="351130" cy="35113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13816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 lead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183880" y="3520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with a 3.86 average rating, closely followed by Sandals and Boots — all above a 3.75 threshold, indicating consistently strong satisfaction in footwear and accessories.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Exposure by Product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purchases made with a discount applied — top 5 products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01000" y="1920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082" y="2122322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0" y="2926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Hat: 50%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001000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Hat purchases involved a discount — the highest of any product line.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001000" y="4251960"/>
            <a:ext cx="32918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01000" y="44348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Encouragingly, 839 customers still spend above average even after a discount is applied — margin risk is concentrated in a handful of product lines, not the base broadly.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to bring to the board for approval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240280"/>
          </a:xfrm>
          <a:prstGeom prst="roundRect">
            <a:avLst>
              <a:gd name="adj" fmla="val 4898"/>
            </a:avLst>
          </a:prstGeom>
          <a:solidFill>
            <a:srgbClr val="26337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Subscriptions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is nearly equal across subscribers and non-subscribers — growing the subscriber base is the clearest path to more total revenue.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257800" cy="2240280"/>
          </a:xfrm>
          <a:prstGeom prst="roundRect">
            <a:avLst>
              <a:gd name="adj" fmla="val 4898"/>
            </a:avLst>
          </a:prstGeom>
          <a:solidFill>
            <a:srgbClr val="263372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c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476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Loyalty Programs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26517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already make up 80% of the base; a formal program can protect this core segment and lift Returning customers toward Loyal status.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257800" cy="2240280"/>
          </a:xfrm>
          <a:prstGeom prst="roundRect">
            <a:avLst>
              <a:gd name="adj" fmla="val 4898"/>
            </a:avLst>
          </a:prstGeom>
          <a:solidFill>
            <a:srgbClr val="26337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2" descr="shipp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6469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62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Express Shipping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" y="51663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$2.02 premium over Standard makes Express an easy, high-margin upsell at checkout.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4206240"/>
            <a:ext cx="5257800" cy="2240280"/>
          </a:xfrm>
          <a:prstGeom prst="roundRect">
            <a:avLst>
              <a:gd name="adj" fmla="val 4898"/>
            </a:avLst>
          </a:prstGeom>
          <a:solidFill>
            <a:srgbClr val="26337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48056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3" descr="t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46469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462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Discount Policy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46520" y="51663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Hat, Sneakers, and Coat see discount rates near 50% — worth reassessing whether these promotions are still margin-accretive.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6337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26337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Next Steps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board review — questions welcome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— Board Briefing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2026-07-18T02:32:40Z</dcterms:created>
  <dcterms:modified xsi:type="dcterms:W3CDTF">2026-07-18T02:32:40Z</dcterms:modified>
</cp:coreProperties>
</file>